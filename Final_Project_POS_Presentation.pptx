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20" r:id="rId1"/>
  </p:sldMasterIdLst>
  <p:sldIdLst>
    <p:sldId id="264" r:id="rId2"/>
    <p:sldId id="257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1234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396319" y="802299"/>
            <a:ext cx="5618515" cy="2541431"/>
          </a:xfrm>
        </p:spPr>
        <p:txBody>
          <a:bodyPr bIns="0"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96319" y="3531205"/>
            <a:ext cx="5618515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600" b="0" cap="all" baseline="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96319" y="329308"/>
            <a:ext cx="3086292" cy="30920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4703" y="798973"/>
            <a:ext cx="802005" cy="503578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396319" y="3528542"/>
            <a:ext cx="5618515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271984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063472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1756130"/>
            <a:ext cx="5617002" cy="1887950"/>
          </a:xfrm>
        </p:spPr>
        <p:txBody>
          <a:bodyPr anchor="b">
            <a:normAutofit/>
          </a:bodyPr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2" y="3806196"/>
            <a:ext cx="5617002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43491" y="3804985"/>
            <a:ext cx="561700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149947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804890"/>
            <a:ext cx="6571343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3490" y="2013936"/>
            <a:ext cx="3125871" cy="34375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89182" y="2013936"/>
            <a:ext cx="3125652" cy="34375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879275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Straight Connector 35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804164"/>
            <a:ext cx="6571344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1" y="2019550"/>
            <a:ext cx="3125766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3491" y="2824270"/>
            <a:ext cx="3125766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89182" y="2023004"/>
            <a:ext cx="31256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89182" y="2821491"/>
            <a:ext cx="31256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51739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" name="Straight Connector 31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45557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15927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9042" y="798973"/>
            <a:ext cx="2425950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86656" y="798974"/>
            <a:ext cx="3828178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39042" y="3205492"/>
            <a:ext cx="2427369" cy="2248181"/>
          </a:xfrm>
        </p:spPr>
        <p:txBody>
          <a:bodyPr>
            <a:normAutofit/>
          </a:bodyPr>
          <a:lstStyle>
            <a:lvl1pPr marL="0" indent="0" algn="l">
              <a:buNone/>
              <a:defRPr sz="16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1748" y="3205491"/>
            <a:ext cx="242327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915629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/>
          <p:cNvGrpSpPr/>
          <p:nvPr/>
        </p:nvGrpSpPr>
        <p:grpSpPr>
          <a:xfrm>
            <a:off x="4996501" y="482171"/>
            <a:ext cx="3511387" cy="5149101"/>
            <a:chOff x="6852919" y="583365"/>
            <a:chExt cx="4681849" cy="5181928"/>
          </a:xfrm>
        </p:grpSpPr>
        <p:sp>
          <p:nvSpPr>
            <p:cNvPr id="14" name="Rectangle 13"/>
            <p:cNvSpPr/>
            <p:nvPr/>
          </p:nvSpPr>
          <p:spPr>
            <a:xfrm>
              <a:off x="6852919" y="583365"/>
              <a:ext cx="4681849" cy="5181928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Rectangle 14"/>
            <p:cNvSpPr/>
            <p:nvPr/>
          </p:nvSpPr>
          <p:spPr>
            <a:xfrm>
              <a:off x="7273787" y="915806"/>
              <a:ext cx="3844017" cy="4507918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148" y="1129513"/>
            <a:ext cx="3244935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40128" y="1122543"/>
            <a:ext cx="2234998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3492" y="3145992"/>
            <a:ext cx="3240286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36664" y="5469857"/>
            <a:ext cx="3252420" cy="320123"/>
          </a:xfrm>
        </p:spPr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37530" y="318641"/>
            <a:ext cx="3251553" cy="32093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1281" y="3143605"/>
            <a:ext cx="3242014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787128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61603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18028" y="798974"/>
            <a:ext cx="1103027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3491" y="798974"/>
            <a:ext cx="5301095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6918028" y="798974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147807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2015734"/>
            <a:ext cx="9144000" cy="4079520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00" t="1538" r="12500" b="-1538"/>
          <a:stretch/>
        </p:blipFill>
        <p:spPr>
          <a:xfrm>
            <a:off x="-1" y="6095253"/>
            <a:ext cx="9144001" cy="774727"/>
          </a:xfrm>
          <a:prstGeom prst="rect">
            <a:avLst/>
          </a:prstGeom>
        </p:spPr>
      </p:pic>
      <p:cxnSp>
        <p:nvCxnSpPr>
          <p:cNvPr id="13" name="Straight Connector 12"/>
          <p:cNvCxnSpPr/>
          <p:nvPr/>
        </p:nvCxnSpPr>
        <p:spPr>
          <a:xfrm>
            <a:off x="0" y="6101127"/>
            <a:ext cx="9144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43491" y="804520"/>
            <a:ext cx="6571343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1" y="2015733"/>
            <a:ext cx="6571343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646542" y="330370"/>
            <a:ext cx="2368292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43491" y="329308"/>
            <a:ext cx="4034004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7725" y="798973"/>
            <a:ext cx="795746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71496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6858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ERD.png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413E330B-635F-F605-12CC-BB698DB3D0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96319" y="802299"/>
            <a:ext cx="5618515" cy="2541431"/>
          </a:xfrm>
        </p:spPr>
        <p:txBody>
          <a:bodyPr/>
          <a:lstStyle/>
          <a:p>
            <a:pPr>
              <a:defRPr sz="4800" b="1">
                <a:solidFill>
                  <a:srgbClr val="FFFFFF"/>
                </a:solidFill>
              </a:defRPr>
            </a:pPr>
            <a:r>
              <a:rPr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Pembuatan</a:t>
            </a: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 Final Project : Point Of Sales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D59F034A-CD76-FB5B-D24D-42A1703985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96319" y="3531205"/>
            <a:ext cx="5618515" cy="977621"/>
          </a:xfrm>
        </p:spPr>
        <p:txBody>
          <a:bodyPr/>
          <a:lstStyle/>
          <a:p>
            <a:pPr>
              <a:defRPr sz="2400">
                <a:solidFill>
                  <a:srgbClr val="E6E6E6"/>
                </a:solidFill>
              </a:defRPr>
            </a:pPr>
            <a:r>
              <a:rPr lang="en-US" dirty="0">
                <a:solidFill>
                  <a:schemeClr val="bg2">
                    <a:lumMod val="10000"/>
                  </a:schemeClr>
                </a:solidFill>
              </a:rPr>
              <a:t>By </a:t>
            </a:r>
            <a:r>
              <a:rPr lang="en-US" dirty="0" err="1">
                <a:solidFill>
                  <a:schemeClr val="bg2">
                    <a:lumMod val="10000"/>
                  </a:schemeClr>
                </a:solidFill>
              </a:rPr>
              <a:t>suparmin</a:t>
            </a:r>
            <a:endParaRPr dirty="0">
              <a:solidFill>
                <a:schemeClr val="bg2">
                  <a:lumMod val="1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166785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1428A0"/>
                </a:solidFill>
              </a:defRPr>
            </a:pPr>
            <a:r>
              <a:t>Persiapan Awal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1E1E1E"/>
                </a:solidFill>
              </a:defRPr>
            </a:pPr>
            <a:endParaRPr/>
          </a:p>
          <a:p>
            <a:pPr>
              <a:defRPr sz="2000">
                <a:solidFill>
                  <a:srgbClr val="1E1E1E"/>
                </a:solidFill>
              </a:defRPr>
            </a:pPr>
            <a:r>
              <a:t>✔ Menentukan kebutuhan aplikasi</a:t>
            </a:r>
          </a:p>
          <a:p>
            <a:pPr>
              <a:defRPr sz="2000">
                <a:solidFill>
                  <a:srgbClr val="1E1E1E"/>
                </a:solidFill>
              </a:defRPr>
            </a:pPr>
            <a:r>
              <a:t>✔ Menentukan fitur utama POS</a:t>
            </a:r>
          </a:p>
          <a:p>
            <a:pPr>
              <a:defRPr sz="2000">
                <a:solidFill>
                  <a:srgbClr val="1E1E1E"/>
                </a:solidFill>
              </a:defRPr>
            </a:pPr>
            <a:r>
              <a:t>✔ Menentukan target pengguna dan alur kerja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1428A0"/>
                </a:solidFill>
              </a:defRPr>
            </a:pPr>
            <a:r>
              <a:t>Rancangan Aplikasi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1E1E1E"/>
                </a:solidFill>
              </a:defRPr>
            </a:pPr>
            <a:endParaRPr dirty="0"/>
          </a:p>
          <a:p>
            <a:pPr>
              <a:defRPr sz="2000">
                <a:solidFill>
                  <a:srgbClr val="1E1E1E"/>
                </a:solidFill>
              </a:defRPr>
            </a:pPr>
            <a:r>
              <a:rPr dirty="0"/>
              <a:t>🗂 </a:t>
            </a:r>
            <a:r>
              <a:rPr dirty="0">
                <a:hlinkClick r:id="rId2" action="ppaction://hlinkfile"/>
              </a:rPr>
              <a:t>ERD dan </a:t>
            </a:r>
            <a:r>
              <a:rPr dirty="0" err="1">
                <a:hlinkClick r:id="rId2" action="ppaction://hlinkfile"/>
              </a:rPr>
              <a:t>desain</a:t>
            </a:r>
            <a:r>
              <a:rPr dirty="0">
                <a:hlinkClick r:id="rId2" action="ppaction://hlinkfile"/>
              </a:rPr>
              <a:t> database</a:t>
            </a:r>
            <a:endParaRPr dirty="0"/>
          </a:p>
          <a:p>
            <a:pPr>
              <a:defRPr sz="2000">
                <a:solidFill>
                  <a:srgbClr val="1E1E1E"/>
                </a:solidFill>
              </a:defRPr>
            </a:pPr>
            <a:r>
              <a:rPr dirty="0"/>
              <a:t>💻 Front End : React.js</a:t>
            </a:r>
          </a:p>
          <a:p>
            <a:pPr>
              <a:defRPr sz="2000">
                <a:solidFill>
                  <a:srgbClr val="1E1E1E"/>
                </a:solidFill>
              </a:defRPr>
            </a:pPr>
            <a:r>
              <a:rPr dirty="0"/>
              <a:t>⚙ Backend : Node.js / Express.js</a:t>
            </a:r>
          </a:p>
          <a:p>
            <a:pPr>
              <a:defRPr sz="2000">
                <a:solidFill>
                  <a:srgbClr val="1E1E1E"/>
                </a:solidFill>
              </a:defRPr>
            </a:pPr>
            <a:r>
              <a:rPr dirty="0"/>
              <a:t>🛢 Database : Neon PostgreSQL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defRPr sz="3600" b="1">
                <a:solidFill>
                  <a:srgbClr val="1428A0"/>
                </a:solidFill>
              </a:defRPr>
            </a:pPr>
            <a:r>
              <a:t>Timeline Pengembangan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1E1E1E"/>
                </a:solidFill>
              </a:defRPr>
            </a:pPr>
            <a:endParaRPr/>
          </a:p>
          <a:p>
            <a:pPr>
              <a:defRPr sz="2000">
                <a:solidFill>
                  <a:srgbClr val="1E1E1E"/>
                </a:solidFill>
              </a:defRPr>
            </a:pPr>
            <a:r>
              <a:t>📌 Minggu 1 : Perancangan ERD, Setup Project</a:t>
            </a:r>
          </a:p>
          <a:p>
            <a:pPr>
              <a:defRPr sz="2000">
                <a:solidFill>
                  <a:srgbClr val="1E1E1E"/>
                </a:solidFill>
              </a:defRPr>
            </a:pPr>
            <a:r>
              <a:t>📌 Minggu 2 : Pembuatan API Backend</a:t>
            </a:r>
          </a:p>
          <a:p>
            <a:pPr>
              <a:defRPr sz="2000">
                <a:solidFill>
                  <a:srgbClr val="1E1E1E"/>
                </a:solidFill>
              </a:defRPr>
            </a:pPr>
            <a:r>
              <a:t>📌 Minggu 3 : Integrasi Frontend - Backend</a:t>
            </a:r>
          </a:p>
          <a:p>
            <a:pPr>
              <a:defRPr sz="2000">
                <a:solidFill>
                  <a:srgbClr val="1E1E1E"/>
                </a:solidFill>
              </a:defRPr>
            </a:pPr>
            <a:r>
              <a:t>📌 Minggu 4 : Pengujian &amp;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1428A0"/>
                </a:solidFill>
              </a:defRPr>
            </a:pPr>
            <a:r>
              <a:t>Progress Proyek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1E1E1E"/>
                </a:solidFill>
              </a:defRPr>
            </a:pPr>
            <a:endParaRPr/>
          </a:p>
          <a:p>
            <a:pPr>
              <a:defRPr sz="2000">
                <a:solidFill>
                  <a:srgbClr val="1E1E1E"/>
                </a:solidFill>
              </a:defRPr>
            </a:pPr>
            <a:r>
              <a:t>🚀 Setup repository dan struktur project</a:t>
            </a:r>
          </a:p>
          <a:p>
            <a:pPr>
              <a:defRPr sz="2000">
                <a:solidFill>
                  <a:srgbClr val="1E1E1E"/>
                </a:solidFill>
              </a:defRPr>
            </a:pPr>
            <a:r>
              <a:t>🚀 Membuat API CRUD produk, transaksi, user</a:t>
            </a:r>
          </a:p>
          <a:p>
            <a:pPr>
              <a:defRPr sz="2000">
                <a:solidFill>
                  <a:srgbClr val="1E1E1E"/>
                </a:solidFill>
              </a:defRPr>
            </a:pPr>
            <a:r>
              <a:t>🚀 Membuat UI dashboard dan kasir</a:t>
            </a:r>
          </a:p>
          <a:p>
            <a:pPr>
              <a:defRPr sz="2000">
                <a:solidFill>
                  <a:srgbClr val="1E1E1E"/>
                </a:solidFill>
              </a:defRPr>
            </a:pPr>
            <a:r>
              <a:t>🚀 Integrasi database Neon PostgreSQL</a:t>
            </a:r>
          </a:p>
          <a:p>
            <a:pPr>
              <a:defRPr sz="2000">
                <a:solidFill>
                  <a:srgbClr val="1E1E1E"/>
                </a:solidFill>
              </a:defRPr>
            </a:pPr>
            <a:r>
              <a:t>🚀 Testing fitur utama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1428A0"/>
                </a:solidFill>
              </a:defRPr>
            </a:pPr>
            <a:r>
              <a:t>Tantangan dan Solusi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1E1E1E"/>
                </a:solidFill>
              </a:defRPr>
            </a:pPr>
            <a:endParaRPr dirty="0"/>
          </a:p>
          <a:p>
            <a:pPr>
              <a:defRPr sz="2000">
                <a:solidFill>
                  <a:srgbClr val="1E1E1E"/>
                </a:solidFill>
              </a:defRPr>
            </a:pPr>
            <a:r>
              <a:rPr dirty="0"/>
              <a:t>⚠ Integrasi frontend-backend → ✔ Solusi: </a:t>
            </a:r>
            <a:r>
              <a:rPr dirty="0" err="1"/>
              <a:t>Menggunakan</a:t>
            </a:r>
            <a:r>
              <a:rPr dirty="0"/>
              <a:t> </a:t>
            </a:r>
            <a:r>
              <a:rPr lang="en-US" dirty="0"/>
              <a:t>Fetch</a:t>
            </a:r>
            <a:r>
              <a:rPr dirty="0"/>
              <a:t> &amp; </a:t>
            </a:r>
            <a:r>
              <a:rPr dirty="0" err="1"/>
              <a:t>dokumentasi</a:t>
            </a:r>
            <a:r>
              <a:rPr dirty="0"/>
              <a:t> API</a:t>
            </a:r>
          </a:p>
          <a:p>
            <a:pPr>
              <a:defRPr sz="2000">
                <a:solidFill>
                  <a:srgbClr val="1E1E1E"/>
                </a:solidFill>
              </a:defRPr>
            </a:pPr>
            <a:r>
              <a:rPr dirty="0"/>
              <a:t>⚠ Error </a:t>
            </a:r>
            <a:r>
              <a:rPr dirty="0" err="1"/>
              <a:t>koneksi</a:t>
            </a:r>
            <a:r>
              <a:rPr dirty="0"/>
              <a:t> database → ✔ Solusi: Connection pooling Neon</a:t>
            </a:r>
          </a:p>
          <a:p>
            <a:pPr>
              <a:defRPr sz="2000">
                <a:solidFill>
                  <a:srgbClr val="1E1E1E"/>
                </a:solidFill>
              </a:defRPr>
            </a:pPr>
            <a:r>
              <a:rPr dirty="0"/>
              <a:t>⚠ UI </a:t>
            </a:r>
            <a:r>
              <a:rPr dirty="0" err="1"/>
              <a:t>tidak</a:t>
            </a:r>
            <a:r>
              <a:rPr dirty="0"/>
              <a:t> </a:t>
            </a:r>
            <a:r>
              <a:rPr dirty="0" err="1"/>
              <a:t>responsif</a:t>
            </a:r>
            <a:r>
              <a:rPr dirty="0"/>
              <a:t> → ✔ Solusi: </a:t>
            </a:r>
            <a:r>
              <a:rPr dirty="0" err="1"/>
              <a:t>Optimasi</a:t>
            </a:r>
            <a:r>
              <a:rPr dirty="0"/>
              <a:t> </a:t>
            </a:r>
            <a:r>
              <a:rPr dirty="0" err="1"/>
              <a:t>komponen</a:t>
            </a:r>
            <a:r>
              <a:rPr dirty="0"/>
              <a:t> React + CSS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1428A0"/>
                </a:solidFill>
              </a:defRPr>
            </a:pPr>
            <a:r>
              <a:t>Link GitHub &amp; Demo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1E1E1E"/>
                </a:solidFill>
              </a:defRPr>
            </a:pPr>
            <a:endParaRPr dirty="0"/>
          </a:p>
          <a:p>
            <a:pPr>
              <a:defRPr sz="2000">
                <a:solidFill>
                  <a:srgbClr val="1E1E1E"/>
                </a:solidFill>
              </a:defRPr>
            </a:pPr>
            <a:r>
              <a:rPr dirty="0"/>
              <a:t>🔗 Link Repository:</a:t>
            </a:r>
          </a:p>
          <a:p>
            <a:pPr>
              <a:defRPr sz="2000">
                <a:solidFill>
                  <a:srgbClr val="1E1E1E"/>
                </a:solidFill>
              </a:defRPr>
            </a:pPr>
            <a:r>
              <a:rPr dirty="0"/>
              <a:t>https://github.com/</a:t>
            </a:r>
            <a:r>
              <a:rPr lang="en-US" dirty="0"/>
              <a:t>mazparmien</a:t>
            </a:r>
            <a:r>
              <a:rPr dirty="0"/>
              <a:t>/</a:t>
            </a:r>
            <a:r>
              <a:rPr lang="en-ID" dirty="0" err="1"/>
              <a:t>sinaupos</a:t>
            </a:r>
            <a:endParaRPr dirty="0"/>
          </a:p>
          <a:p>
            <a:pPr>
              <a:defRPr sz="2000">
                <a:solidFill>
                  <a:srgbClr val="1E1E1E"/>
                </a:solidFill>
              </a:defRPr>
            </a:pPr>
            <a:r>
              <a:rPr dirty="0"/>
              <a:t>🎥 Demo </a:t>
            </a:r>
            <a:r>
              <a:rPr dirty="0" err="1"/>
              <a:t>Singkat</a:t>
            </a:r>
            <a:r>
              <a:rPr dirty="0"/>
              <a:t>:</a:t>
            </a:r>
          </a:p>
          <a:p>
            <a:pPr>
              <a:defRPr sz="2000">
                <a:solidFill>
                  <a:srgbClr val="1E1E1E"/>
                </a:solidFill>
              </a:defRPr>
            </a:pPr>
            <a:r>
              <a:rPr dirty="0" err="1"/>
              <a:t>Menampilkan</a:t>
            </a:r>
            <a:r>
              <a:rPr dirty="0"/>
              <a:t> </a:t>
            </a:r>
            <a:r>
              <a:rPr dirty="0" err="1"/>
              <a:t>alur</a:t>
            </a:r>
            <a:r>
              <a:rPr dirty="0"/>
              <a:t> </a:t>
            </a:r>
            <a:r>
              <a:rPr dirty="0" err="1"/>
              <a:t>transaksi</a:t>
            </a:r>
            <a:r>
              <a:rPr dirty="0"/>
              <a:t> dan </a:t>
            </a:r>
            <a:r>
              <a:rPr dirty="0" err="1"/>
              <a:t>manajemen</a:t>
            </a:r>
            <a:r>
              <a:rPr dirty="0"/>
              <a:t> </a:t>
            </a:r>
            <a:r>
              <a:rPr dirty="0" err="1"/>
              <a:t>produk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TM10001114[[fn=Gallery]]</Template>
  <TotalTime>387</TotalTime>
  <Words>187</Words>
  <Application>Microsoft Office PowerPoint</Application>
  <PresentationFormat>On-screen Show (4:3)</PresentationFormat>
  <Paragraphs>37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Gill Sans MT</vt:lpstr>
      <vt:lpstr>Gallery</vt:lpstr>
      <vt:lpstr>Pembuatan Final Project : Point Of Sales</vt:lpstr>
      <vt:lpstr>Persiapan Awal</vt:lpstr>
      <vt:lpstr>Rancangan Aplikasi</vt:lpstr>
      <vt:lpstr>Timeline Pengembangan</vt:lpstr>
      <vt:lpstr>Progress Proyek</vt:lpstr>
      <vt:lpstr>Tantangan dan Solusi</vt:lpstr>
      <vt:lpstr>Link GitHub &amp; Demo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Admin</dc:creator>
  <cp:keywords/>
  <dc:description>generated using python-pptx</dc:description>
  <cp:lastModifiedBy>mazparmien@gmail.com</cp:lastModifiedBy>
  <cp:revision>4</cp:revision>
  <dcterms:created xsi:type="dcterms:W3CDTF">2013-01-27T09:14:16Z</dcterms:created>
  <dcterms:modified xsi:type="dcterms:W3CDTF">2025-11-18T12:10:17Z</dcterms:modified>
  <cp:category/>
</cp:coreProperties>
</file>